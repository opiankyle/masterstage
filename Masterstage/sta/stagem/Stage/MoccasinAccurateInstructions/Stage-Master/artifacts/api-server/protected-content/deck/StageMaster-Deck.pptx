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943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676656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ontserrat"/>
              </a:rPr>
              <a:t>StageMaster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250">
                <a:solidFill>
                  <a:srgbClr val="2563EB"/>
                </a:solidFill>
                <a:latin typeface="Montserrat"/>
              </a:rPr>
              <a:t>THE $47 COURSE · COMPANION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11155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0F172A"/>
                </a:solidFill>
                <a:latin typeface="Montserrat"/>
              </a:rPr>
              <a:t>Mastering Public Speaking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0F172A"/>
                </a:solidFill>
                <a:latin typeface="Montserrat"/>
              </a:rPr>
              <a:t>for Online Entrepreneurs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348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64748B"/>
                </a:solidFill>
                <a:latin typeface="Open Sans"/>
              </a:rPr>
              <a:t>From camera-shy to conversion-ready in 30 days — mindset, message, voice,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64748B"/>
                </a:solidFill>
                <a:latin typeface="Open Sans"/>
              </a:rPr>
              <a:t>presence, story, and selling.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69280"/>
            <a:ext cx="11064240" cy="18288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8978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Open Sans"/>
              </a:rPr>
              <a:t>7 modules  ·  7 video lessons  ·  12 NLP patterns  ·  workbook  ·  6 cheat sheets  ·  30-day practice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0292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20">
                <a:solidFill>
                  <a:srgbClr val="2563EB"/>
                </a:solidFill>
                <a:latin typeface="Montserrat"/>
              </a:rPr>
              <a:t>THE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ontserrat"/>
              </a:rPr>
              <a:t>Every online dollar runs through speaking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Anyone can write with AI. Anyone can design with templates. Live, on camera, there's nowhere to hide — which is exactly the opportunity.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860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2560320"/>
            <a:ext cx="457200" cy="6400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78892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Montserrat"/>
              </a:rPr>
              <a:t>Lives &amp; streams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520440"/>
            <a:ext cx="2240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Open Sans"/>
              </a:rPr>
              <a:t>Grow and keep a community that actually shows 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22860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94176" y="2560320"/>
            <a:ext cx="457200" cy="6400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78892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Montserrat"/>
              </a:rPr>
              <a:t>Webinars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3520440"/>
            <a:ext cx="2240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Open Sans"/>
              </a:rPr>
              <a:t>The highest-converting sales mechanism in the creator economy.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2860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92824" y="2560320"/>
            <a:ext cx="457200" cy="6400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2824" y="278892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Montserrat"/>
              </a:rPr>
              <a:t>Pitches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3520440"/>
            <a:ext cx="2240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Open Sans"/>
              </a:rPr>
              <a:t>Partners, podcasts, and funding — won or lost in 60 seconds.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62872" y="22860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91472" y="2560320"/>
            <a:ext cx="457200" cy="6400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1472" y="278892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Montserrat"/>
              </a:rPr>
              <a:t>Daily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3520440"/>
            <a:ext cx="2240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Open Sans"/>
              </a:rPr>
              <a:t>Talking-head video is the trust engine of every personal brand.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897880"/>
            <a:ext cx="1106424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98932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Speaking is not a talent — it's a stack of learnable skills, installed in order.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0292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20">
                <a:solidFill>
                  <a:srgbClr val="2563EB"/>
                </a:solidFill>
                <a:latin typeface="Montserrat"/>
              </a:rPr>
              <a:t>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ontserrat"/>
              </a:rPr>
              <a:t>The 7-module course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Every module teaches a speaking skill — and installs a named NLP pattern underneath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11064240" cy="53035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212848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3113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ontserrat"/>
              </a:rPr>
              <a:t>Own the Room in Your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267712"/>
            <a:ext cx="6080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3 mindset shifts + pre-talk routine  ·  NLP: Reframe + Confidence Anchor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688336"/>
            <a:ext cx="1106424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2779776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9806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ontserrat"/>
              </a:rPr>
              <a:t>Message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834640"/>
            <a:ext cx="6080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One Core Idea + the HPPP skeleton  ·  NLP: Presupposition + Embedded Commands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55264"/>
            <a:ext cx="11064240" cy="53035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346704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649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ontserrat"/>
              </a:rPr>
              <a:t>Voice &amp;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401568"/>
            <a:ext cx="6080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The four vocal dials  ·  NLP: Analog Marking + Auditory Pacing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822192"/>
            <a:ext cx="1106424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3913632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9319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ontserrat"/>
              </a:rPr>
              <a:t>Camera Presence &amp; Body 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968496"/>
            <a:ext cx="6080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Lens contact, framing, gestures  ·  NLP: Rapport + State Transfer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389120"/>
            <a:ext cx="11064240" cy="53035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448056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49884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ontserrat"/>
              </a:rPr>
              <a:t>Storytelling That Sticks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4535424"/>
            <a:ext cx="6080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Before→After→Bridge + 4 banked stories  ·  NLP: Nested Loops + Submodalities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956048"/>
            <a:ext cx="1106424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9808" y="5047488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06577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ontserrat"/>
              </a:rPr>
              <a:t>Speaking to Sell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5102352"/>
            <a:ext cx="6080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The 8-beat Webinar Spine + PSR pitch  ·  NLP: Pace-and-Lead + Yes-Set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522976"/>
            <a:ext cx="11064240" cy="53035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49808" y="5614416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63270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ontserrat"/>
              </a:rPr>
              <a:t>The 30-Day Practice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5669280"/>
            <a:ext cx="6080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Open Sans"/>
              </a:rPr>
              <a:t>Daily 10-minute reps  ·  NLP: The Swish + Identity-Level 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0292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20">
                <a:solidFill>
                  <a:srgbClr val="2563EB"/>
                </a:solidFill>
                <a:latin typeface="Montserrat"/>
              </a:rPr>
              <a:t>THE DIFFERENCE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ontserrat"/>
              </a:rPr>
              <a:t>The 12 NLP levers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Most speaking courses teach you what to say. These are the patterns that decide whether it lands.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21408"/>
            <a:ext cx="2615184" cy="113385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276856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313432"/>
            <a:ext cx="1975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D4ED8"/>
                </a:solidFill>
                <a:latin typeface="Montserrat"/>
              </a:rPr>
              <a:t>Reframe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70048"/>
            <a:ext cx="22494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Open Sans"/>
              </a:rPr>
              <a:t>Rename the feeling and the state follows the label.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121408"/>
            <a:ext cx="2615184" cy="113385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66160" y="2276856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313432"/>
            <a:ext cx="1975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D4ED8"/>
                </a:solidFill>
                <a:latin typeface="Montserrat"/>
              </a:rPr>
              <a:t>Confidence Anchor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70048"/>
            <a:ext cx="22494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Open Sans"/>
              </a:rPr>
              <a:t>A physical trigger that recalls your peak state on cue.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121408"/>
            <a:ext cx="2615184" cy="113385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2512" y="2276856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313432"/>
            <a:ext cx="1975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D4ED8"/>
                </a:solidFill>
                <a:latin typeface="Montserrat"/>
              </a:rPr>
              <a:t>Presupposition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670048"/>
            <a:ext cx="22494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Open Sans"/>
              </a:rPr>
              <a:t>Build the conclusion into the grammar. “When”, never “if”.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5984" y="2121408"/>
            <a:ext cx="2615184" cy="113385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98864" y="2276856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4624" y="2313432"/>
            <a:ext cx="1975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D4ED8"/>
                </a:solidFill>
                <a:latin typeface="Montserrat"/>
              </a:rPr>
              <a:t>Embedded Commands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2670048"/>
            <a:ext cx="22494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Open Sans"/>
              </a:rPr>
              <a:t>The instruction rides inside an ordinary sentence.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383280"/>
            <a:ext cx="2615184" cy="113385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3538728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575304"/>
            <a:ext cx="1975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D4ED8"/>
                </a:solidFill>
                <a:latin typeface="Montserrat"/>
              </a:rPr>
              <a:t>Analog Marking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3931920"/>
            <a:ext cx="22494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Open Sans"/>
              </a:rPr>
              <a:t>Slower, lower, louder, silence — flag the line that matters.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3383280"/>
            <a:ext cx="2615184" cy="113385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66160" y="3538728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575304"/>
            <a:ext cx="1975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D4ED8"/>
                </a:solidFill>
                <a:latin typeface="Montserrat"/>
              </a:rPr>
              <a:t>Auditory Pacing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931920"/>
            <a:ext cx="22494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Open Sans"/>
              </a:rPr>
              <a:t>Open near their energy, then lead them up to yours.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3383280"/>
            <a:ext cx="2615184" cy="113385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82512" y="3538728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3575304"/>
            <a:ext cx="1975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D4ED8"/>
                </a:solidFill>
                <a:latin typeface="Montserrat"/>
              </a:rPr>
              <a:t>State Transfer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3931920"/>
            <a:ext cx="22494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Open Sans"/>
              </a:rPr>
              <a:t>They catch what you carry. Name your state before you record.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15984" y="3383280"/>
            <a:ext cx="2615184" cy="113385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198864" y="3538728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64624" y="3575304"/>
            <a:ext cx="1975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D4ED8"/>
                </a:solidFill>
                <a:latin typeface="Montserrat"/>
              </a:rPr>
              <a:t>Nested Loops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8864" y="3931920"/>
            <a:ext cx="22494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Open Sans"/>
              </a:rPr>
              <a:t>Open a story, delay the ending, hold attention to the close.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645152"/>
            <a:ext cx="2615184" cy="113385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9808" y="480060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4837176"/>
            <a:ext cx="1975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D4ED8"/>
                </a:solidFill>
                <a:latin typeface="Montserrat"/>
              </a:rPr>
              <a:t>Submodality Shifts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5193792"/>
            <a:ext cx="22494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Open Sans"/>
              </a:rPr>
              <a:t>Before: small, dark, tight. After: big, bright, close.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83280" y="4645152"/>
            <a:ext cx="2615184" cy="113385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66160" y="480060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4837176"/>
            <a:ext cx="1975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D4ED8"/>
                </a:solidFill>
                <a:latin typeface="Montserrat"/>
              </a:rPr>
              <a:t>Pace-and-Lead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5193792"/>
            <a:ext cx="22494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Open Sans"/>
              </a:rPr>
              <a:t>Three things already true in their world, then the pivot.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99632" y="4645152"/>
            <a:ext cx="2615184" cy="113385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82512" y="480060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48272" y="4837176"/>
            <a:ext cx="1975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D4ED8"/>
                </a:solidFill>
                <a:latin typeface="Montserrat"/>
              </a:rPr>
              <a:t>Future Pacing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512" y="5193792"/>
            <a:ext cx="22494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Open Sans"/>
              </a:rPr>
              <a:t>Let them own the result before you name the price.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15984" y="4645152"/>
            <a:ext cx="2615184" cy="1133856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198864" y="480060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4624" y="4837176"/>
            <a:ext cx="1975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D4ED8"/>
                </a:solidFill>
                <a:latin typeface="Montserrat"/>
              </a:rPr>
              <a:t>The Swish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98864" y="5193792"/>
            <a:ext cx="22494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Open Sans"/>
              </a:rPr>
              <a:t>Overwrite the old picture. Identity first, behaviour follows.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6928" y="5897880"/>
            <a:ext cx="1106424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598932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The ethical rule: every pattern here makes TRUE things land harder. That's why they keep working.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0292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20">
                <a:solidFill>
                  <a:srgbClr val="2563EB"/>
                </a:solidFill>
                <a:latin typeface="Montserrat"/>
              </a:rPr>
              <a:t>MODULE 1 · THE SPEAKER'S MINDSET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ontserrat"/>
              </a:rPr>
              <a:t>The three mindset shifts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Fear of speaking is a prediction error — retrain the label, not the feeling.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86000"/>
            <a:ext cx="3538728" cy="31089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560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3026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Montserrat"/>
              </a:rPr>
              <a:t>Performer → Giver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3026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Open Sans"/>
              </a:rPr>
              <a:t>Stage fright is self-focus. Flip attention to them: “After this, my audience will be able to ______.”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286000"/>
            <a:ext cx="3538728" cy="31089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0288" y="2560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154680"/>
            <a:ext cx="3026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Montserrat"/>
              </a:rPr>
              <a:t>Perfect → Useful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703320"/>
            <a:ext cx="3026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Open Sans"/>
              </a:rPr>
              <a:t>Audiences don't want flawless — they want useful. A stumble + a great insight beats polished emptiness.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2286000"/>
            <a:ext cx="3538728" cy="31089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57616" y="2560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3154680"/>
            <a:ext cx="3026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Montserrat"/>
              </a:rPr>
              <a:t>Event → Rep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703320"/>
            <a:ext cx="302666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72A"/>
                </a:solidFill>
                <a:latin typeface="Open Sans"/>
              </a:rPr>
              <a:t>Every talk is one rep in a training program, not a verdict on your worth. Log it, adjust, go again.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897880"/>
            <a:ext cx="1106424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Same adrenaline, different label: “I'm not nervous — I'm ready. This energy is fuel.”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0292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20">
                <a:solidFill>
                  <a:srgbClr val="2563EB"/>
                </a:solidFill>
                <a:latin typeface="Montserrat"/>
              </a:rPr>
              <a:t>MODULE 1 ·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ontserrat"/>
              </a:rPr>
              <a:t>The 5-Minute Pre-Talk Routine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Run it before every live, webinar, recording, or pitch.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11064240" cy="62179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" y="2231136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5856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ontserrat"/>
              </a:rPr>
              <a:t>Physiological sigh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76856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Open Sans"/>
              </a:rPr>
              <a:t>Double inhale (nose), long exhale (mouth) — 5 rounds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25856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Montserrat"/>
              </a:rPr>
              <a:t>60s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816352"/>
            <a:ext cx="11064240" cy="62179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8096" y="2944368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9718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ontserrat"/>
              </a:rPr>
              <a:t>Power posture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90088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Open Sans"/>
              </a:rPr>
              <a:t>Stand tall, shoulders back, arms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97180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Montserrat"/>
              </a:rPr>
              <a:t>60s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29584"/>
            <a:ext cx="11064240" cy="62179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8096" y="36576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68503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ontserrat"/>
              </a:rPr>
              <a:t>Outcome sentence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03320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Open Sans"/>
              </a:rPr>
              <a:t>Out loud: “After this, they will be able to ______”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368503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Montserrat"/>
              </a:rPr>
              <a:t>30s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42816"/>
            <a:ext cx="11064240" cy="62179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8096" y="4370832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39826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ontserrat"/>
              </a:rPr>
              <a:t>First 30s rehearsal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416552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Open Sans"/>
              </a:rPr>
              <a:t>Say your opening out loud, twice — nerves peak at the 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398264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Montserrat"/>
              </a:rPr>
              <a:t>2 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956048"/>
            <a:ext cx="11064240" cy="62179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8096" y="5084064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111496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ontserrat"/>
              </a:rPr>
              <a:t>Relabel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129784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Open Sans"/>
              </a:rPr>
              <a:t>“I'm not nervous, I'm ready. This energy is fuel.”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5111496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Montserrat"/>
              </a:rPr>
              <a:t>30s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0292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20">
                <a:solidFill>
                  <a:srgbClr val="2563EB"/>
                </a:solidFill>
                <a:latin typeface="Montserrat"/>
              </a:rPr>
              <a:t>MODULE 2 · MESSAGE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ontserrat"/>
              </a:rPr>
              <a:t>The Core Idea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A talk with five points is a talk with zero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945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D4ED8"/>
                </a:solidFill>
                <a:latin typeface="Montserrat"/>
              </a:rPr>
              <a:t>“If they remember only one sentence, it must be: ______.”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84048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50">
                <a:solidFill>
                  <a:srgbClr val="64748B"/>
                </a:solidFill>
                <a:latin typeface="Montserrat"/>
              </a:rPr>
              <a:t>TOPIC (creates naps)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2628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Open Sans"/>
              </a:rPr>
              <a:t>“Email marketing”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84048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069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50">
                <a:solidFill>
                  <a:srgbClr val="2563EB"/>
                </a:solidFill>
                <a:latin typeface="Montserrat"/>
              </a:rPr>
              <a:t>CLAIM (creates tension)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52628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Open Sans"/>
              </a:rPr>
              <a:t>“Your email list is the only audience</a:t>
            </a:r>
          </a:p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Open Sans"/>
              </a:rPr>
              <a:t>you actually own.”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97880"/>
            <a:ext cx="1106424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98932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Every story, statistic, and slide either serves the Core Idea — or gets cut.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0292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20">
                <a:solidFill>
                  <a:srgbClr val="2563EB"/>
                </a:solidFill>
                <a:latin typeface="Montserrat"/>
              </a:rPr>
              <a:t>MODULE 2 · MESSAGE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ontserrat"/>
              </a:rPr>
              <a:t>The HPPP Talk Skeleton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One structure for a 60-second reel or a 60-minute webinar.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2404872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0632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spc="120">
                <a:solidFill>
                  <a:srgbClr val="1D4ED8"/>
                </a:solidFill>
                <a:latin typeface="Montserrat"/>
              </a:rPr>
              <a:t>HOOK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47472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Open Sans"/>
              </a:rPr>
              <a:t>Earn attention in 5–30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20624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4748B"/>
                </a:solidFill>
                <a:latin typeface="Open Sans"/>
              </a:rPr>
              <a:t>Stakes, story, contrarian claim, or question. Never open with logistics — you have seconds, spend them 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5576" y="214884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4176" y="2404872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30632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spc="120">
                <a:solidFill>
                  <a:srgbClr val="1D4ED8"/>
                </a:solidFill>
                <a:latin typeface="Montserrat"/>
              </a:rPr>
              <a:t>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347472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Open Sans"/>
              </a:rPr>
              <a:t>One Core Idea, stated as a 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420624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4748B"/>
                </a:solidFill>
                <a:latin typeface="Open Sans"/>
              </a:rPr>
              <a:t>“If they remember one sentence, it must be…” Say it early, plainly, and more than once.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214884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92824" y="2404872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30632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spc="120">
                <a:solidFill>
                  <a:srgbClr val="1D4ED8"/>
                </a:solidFill>
                <a:latin typeface="Montserrat"/>
              </a:rPr>
              <a:t>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347472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Open Sans"/>
              </a:rPr>
              <a:t>One of each: story, pattern, principle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420624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4748B"/>
                </a:solidFill>
                <a:latin typeface="Open Sans"/>
              </a:rPr>
              <a:t>What happened to you, what you've seen across clients or data, and why it works.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62872" y="214884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1472" y="2404872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306324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spc="120">
                <a:solidFill>
                  <a:srgbClr val="1D4ED8"/>
                </a:solidFill>
                <a:latin typeface="Montserrat"/>
              </a:rPr>
              <a:t>PAYOFF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347472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Open Sans"/>
              </a:rPr>
              <a:t>Close with one clear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4206240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4748B"/>
                </a:solidFill>
                <a:latin typeface="Open Sans"/>
              </a:rPr>
              <a:t>Download, try tonight, comment the word, buy. A talk without a payoff is entertainment.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897880"/>
            <a:ext cx="1106424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98932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Rule: ONE core idea per talk — a talk with five points is a talk with zero points.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0292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20">
                <a:solidFill>
                  <a:srgbClr val="2563EB"/>
                </a:solidFill>
                <a:latin typeface="Montserrat"/>
              </a:rPr>
              <a:t>MODULE 3 · VOICE &amp;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ontserrat"/>
              </a:rPr>
              <a:t>The four vocal dials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On camera your voice does 80% of the work. Monotone tells the brain “nothing new here.”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86000"/>
            <a:ext cx="2697480" cy="33832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5603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spc="150">
                <a:solidFill>
                  <a:srgbClr val="2563EB"/>
                </a:solidFill>
                <a:latin typeface="Montserrat"/>
              </a:rPr>
              <a:t>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06324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Open Sans"/>
              </a:rPr>
              <a:t>140–160 wpm — and vary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794760"/>
            <a:ext cx="2240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4748B"/>
                </a:solidFill>
                <a:latin typeface="Open Sans"/>
              </a:rPr>
              <a:t>Fast through setup, half-speed on the Core Idea. Contrast signals what matters.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2286000"/>
            <a:ext cx="2697480" cy="33832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25603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spc="150">
                <a:solidFill>
                  <a:srgbClr val="2563EB"/>
                </a:solidFill>
                <a:latin typeface="Montserrat"/>
              </a:rPr>
              <a:t>PAUSE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06324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Open Sans"/>
              </a:rPr>
              <a:t>The 3-second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3794760"/>
            <a:ext cx="2240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4748B"/>
                </a:solidFill>
                <a:latin typeface="Open Sans"/>
              </a:rPr>
              <a:t>Three full seconds after the big line. Replace “um” with a closed mouth.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286000"/>
            <a:ext cx="2697480" cy="33832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25603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spc="150">
                <a:solidFill>
                  <a:srgbClr val="2563EB"/>
                </a:solidFill>
                <a:latin typeface="Montserrat"/>
              </a:rPr>
              <a:t>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306324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Open Sans"/>
              </a:rPr>
              <a:t>Statements end 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3794760"/>
            <a:ext cx="2240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4748B"/>
                </a:solidFill>
                <a:latin typeface="Open Sans"/>
              </a:rPr>
              <a:t>Uptalk asks permission. Stories lift and animate; conclusions drop and land.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62872" y="2286000"/>
            <a:ext cx="2697480" cy="33832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91472" y="25603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spc="150">
                <a:solidFill>
                  <a:srgbClr val="2563EB"/>
                </a:solidFill>
                <a:latin typeface="Montserrat"/>
              </a:rPr>
              <a:t>POWER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306324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Open Sans"/>
              </a:rPr>
              <a:t>Breath, not throat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3794760"/>
            <a:ext cx="2240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4748B"/>
                </a:solidFill>
                <a:latin typeface="Open Sans"/>
              </a:rPr>
              <a:t>Breathe low into the belly — steady, resonant sound that also calms nerves.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897880"/>
            <a:ext cx="1106424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98932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One dial per week: pause → pace → pitch → power. Review reps audio-only, eyes closed.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0292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20">
                <a:solidFill>
                  <a:srgbClr val="2563EB"/>
                </a:solidFill>
                <a:latin typeface="Montserrat"/>
              </a:rPr>
              <a:t>MODULE 4 · CAMERA PRESENCE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ontserrat"/>
              </a:rPr>
              <a:t>Command the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Five settings, thirty seconds to check — instantly upgrades how you're perceived.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94560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" y="2304288"/>
            <a:ext cx="347472" cy="34747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22576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ontserrat"/>
              </a:rPr>
              <a:t>Lens at eye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40864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Open Sans"/>
              </a:rPr>
              <a:t>Stack books until the lens matches your eyes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52928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8096" y="2962656"/>
            <a:ext cx="347472" cy="34747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980944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ontserrat"/>
              </a:rPr>
              <a:t>Eyes on the top-third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99923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Open Sans"/>
              </a:rPr>
              <a:t>Modest headroom, never centered 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11296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8096" y="3621024"/>
            <a:ext cx="347472" cy="34747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639312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ontserrat"/>
              </a:rPr>
              <a:t>Arm's-length distance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65760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Open Sans"/>
              </a:rPr>
              <a:t>Close for connection, far enough for gestures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69664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8096" y="4279392"/>
            <a:ext cx="347472" cy="34747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29768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ontserrat"/>
              </a:rPr>
              <a:t>Light in FRONT, never behind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315968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Open Sans"/>
              </a:rPr>
              <a:t>Backlight makes you a silhouette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28032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8096" y="4937760"/>
            <a:ext cx="347472" cy="34747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956048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ontserrat"/>
              </a:rPr>
              <a:t>Clean background with depth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974336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Open Sans"/>
              </a:rPr>
              <a:t>2–3 intentional objects, nothing moving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897880"/>
            <a:ext cx="1106424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98932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The camera is ONE person, sitting close. Say “you” — never “you guys.”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0292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20">
                <a:solidFill>
                  <a:srgbClr val="2563EB"/>
                </a:solidFill>
                <a:latin typeface="Montserrat"/>
              </a:rPr>
              <a:t>MODULE 4 · CAMERA PRESENCE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ontserrat"/>
              </a:rPr>
              <a:t>Let your hands talk — and bring 20% more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Gesturing raises comprehension and perceived confidence, and unlocks vocal energy.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86000"/>
            <a:ext cx="3538728" cy="31089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578608"/>
            <a:ext cx="45720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30266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120">
                <a:solidFill>
                  <a:srgbClr val="1D4ED8"/>
                </a:solidFill>
                <a:latin typeface="Montserrat"/>
              </a:rPr>
              <a:t>THE BOX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30266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0F172A"/>
                </a:solidFill>
                <a:latin typeface="Open Sans"/>
              </a:rPr>
              <a:t>Gesture between shoulders and waist, hands visible at rest and in motion. Hidden hands read as guarded.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286000"/>
            <a:ext cx="3538728" cy="31089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2578608"/>
            <a:ext cx="45720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834640"/>
            <a:ext cx="30266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120">
                <a:solidFill>
                  <a:srgbClr val="1D4ED8"/>
                </a:solidFill>
                <a:latin typeface="Montserrat"/>
              </a:rPr>
              <a:t>MATCH THE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520440"/>
            <a:ext cx="30266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0F172A"/>
                </a:solidFill>
                <a:latin typeface="Open Sans"/>
              </a:rPr>
              <a:t>Count lists on fingers. Show contrast with your hands. Open palms to the lens when you make an offer.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2286000"/>
            <a:ext cx="3538728" cy="31089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57616" y="2578608"/>
            <a:ext cx="45720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2834640"/>
            <a:ext cx="30266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120">
                <a:solidFill>
                  <a:srgbClr val="1D4ED8"/>
                </a:solidFill>
                <a:latin typeface="Montserrat"/>
              </a:rPr>
              <a:t>ENERGY 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520440"/>
            <a:ext cx="302666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0F172A"/>
                </a:solidFill>
                <a:latin typeface="Open Sans"/>
              </a:rPr>
              <a:t>The camera eats ~20% of your energy. 30-second shakeout, then start one notch hotter than feels natural.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897880"/>
            <a:ext cx="1106424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Key lines and CTAs go straight into the LENS. Film yourself once — kill the self-soothing habits.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0292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20">
                <a:solidFill>
                  <a:srgbClr val="2563EB"/>
                </a:solidFill>
                <a:latin typeface="Montserrat"/>
              </a:rPr>
              <a:t>MODULE 5 · STORYTELLING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ontserrat"/>
              </a:rPr>
              <a:t>Before → After →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Facts put brains in evaluation mode; stories put them in simulation mode. Persuasion lives there.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3538728" cy="21488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04872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spc="150">
                <a:solidFill>
                  <a:srgbClr val="2563EB"/>
                </a:solidFill>
                <a:latin typeface="Montserrat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302666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0F172A"/>
                </a:solidFill>
                <a:latin typeface="Open Sans"/>
              </a:rPr>
              <a:t>The struggle state, in specific sensory detail — “still $0, rent due in nine days.”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148840"/>
            <a:ext cx="3538728" cy="21488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404872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spc="150">
                <a:solidFill>
                  <a:srgbClr val="2563EB"/>
                </a:solidFill>
                <a:latin typeface="Montserrat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926080"/>
            <a:ext cx="302666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0F172A"/>
                </a:solidFill>
                <a:latin typeface="Open Sans"/>
              </a:rPr>
              <a:t>The transformed state, equally specific — “$23K while I was at the swimming gala.”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2148840"/>
            <a:ext cx="3538728" cy="21488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2404872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spc="150">
                <a:solidFill>
                  <a:srgbClr val="2563EB"/>
                </a:solidFill>
                <a:latin typeface="Montserrat"/>
              </a:rPr>
              <a:t>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926080"/>
            <a:ext cx="302666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0F172A"/>
                </a:solidFill>
                <a:latin typeface="Open Sans"/>
              </a:rPr>
              <a:t>What changed: the discovery, decision, or method. Your teaching point — or your offer — lives 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26280"/>
            <a:ext cx="11064240" cy="11430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50">
                <a:solidFill>
                  <a:srgbClr val="1D4ED8"/>
                </a:solidFill>
                <a:latin typeface="Montserrat"/>
              </a:rPr>
              <a:t>THE 4 BANKED STORIES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  <a:latin typeface="Open Sans"/>
              </a:rPr>
              <a:t>Founder (why you started)   ·   Discovery (how you found the method)   ·   Customer (their before/after)   ·   Failure (the face-plant + lesson)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897880"/>
            <a:ext cx="1106424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Specificity is the whole game — vague stories persuade no 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0292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20">
                <a:solidFill>
                  <a:srgbClr val="2563EB"/>
                </a:solidFill>
                <a:latin typeface="Montserrat"/>
              </a:rPr>
              <a:t>MODULE 6 · SPEAKING TO SELL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ontserrat"/>
              </a:rPr>
              <a:t>The 8-beat Webinar Spine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Works for any selling talk, 20–90 minutes. The close fails in the first ten minutes, not the last five.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86000"/>
            <a:ext cx="5440680" cy="74980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4688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3774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ontserrat"/>
              </a:rPr>
              <a:t>Hook + promise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395728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Open Sans"/>
              </a:rPr>
              <a:t>“…whether or not you ever buy from me”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286000"/>
            <a:ext cx="5440680" cy="74980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5080" y="24688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23774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ontserrat"/>
              </a:rPr>
              <a:t>Origin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2395728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Open Sans"/>
              </a:rPr>
              <a:t>Discovery Story in BAB 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154680"/>
            <a:ext cx="5440680" cy="74980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3375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32461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ontserrat"/>
              </a:rPr>
              <a:t>The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3264408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Open Sans"/>
              </a:rPr>
              <a:t>Teach the ONE big reframe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3154680"/>
            <a:ext cx="5440680" cy="74980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5080" y="33375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2461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ontserrat"/>
              </a:rPr>
              <a:t>The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3264408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Open Sans"/>
              </a:rPr>
              <a:t>3 real steps, taught honestly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23360"/>
            <a:ext cx="5440680" cy="74980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42062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41148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ontserrat"/>
              </a:rPr>
              <a:t>The 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4133088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Open Sans"/>
              </a:rPr>
              <a:t>“…or let me show you the shortcut.” Say it SLOWLY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4023360"/>
            <a:ext cx="5440680" cy="74980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55080" y="42062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41148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ontserrat"/>
              </a:rPr>
              <a:t>Offer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4133088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Open Sans"/>
              </a:rPr>
              <a:t>Component → outcome. Price after value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892040"/>
            <a:ext cx="5440680" cy="74980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50749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2728" y="49834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ontserrat"/>
              </a:rPr>
              <a:t>Objection pre-emption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47288" y="5001768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Open Sans"/>
              </a:rPr>
              <a:t>Time · money · “will it work for me”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0488" y="4892040"/>
            <a:ext cx="5440680" cy="74980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55080" y="50749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49834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ontserrat"/>
              </a:rPr>
              <a:t>The close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0848" y="5001768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Open Sans"/>
              </a:rPr>
              <a:t>One CTA ×3, honest urgency only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897880"/>
            <a:ext cx="1106424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98932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Trust ledger rhythm: teach 70% · story 20% · offer 10% — the 10 converts because of the 90.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0292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20">
                <a:solidFill>
                  <a:srgbClr val="2563EB"/>
                </a:solidFill>
                <a:latin typeface="Montserrat"/>
              </a:rPr>
              <a:t>MODULE 6 · SHORT-FORM SELLING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ontserrat"/>
              </a:rPr>
              <a:t>The 60-second PSR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DMs, podcasts, collabs, funding — fifteen seconds per beat, then silence.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94560"/>
            <a:ext cx="3538728" cy="28346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30266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120">
                <a:solidFill>
                  <a:srgbClr val="2563EB"/>
                </a:solidFill>
                <a:latin typeface="Montserrat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30266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ontserrat"/>
              </a:rPr>
              <a:t>15s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302666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F172A"/>
                </a:solidFill>
                <a:latin typeface="Open Sans"/>
              </a:rPr>
              <a:t>“Most Whop creators get traffic but convert under 2%.”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194560"/>
            <a:ext cx="3538728" cy="28346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468880"/>
            <a:ext cx="30266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120">
                <a:solidFill>
                  <a:srgbClr val="2563EB"/>
                </a:solidFill>
                <a:latin typeface="Montserrat"/>
              </a:rP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907792"/>
            <a:ext cx="30266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ontserrat"/>
              </a:rPr>
              <a:t>15s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383280"/>
            <a:ext cx="302666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F172A"/>
                </a:solidFill>
                <a:latin typeface="Open Sans"/>
              </a:rPr>
              <a:t>“I built a system that rewrites their checkout flow in an afternoon.”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2194560"/>
            <a:ext cx="3538728" cy="28346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468880"/>
            <a:ext cx="30266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120">
                <a:solidFill>
                  <a:srgbClr val="2563EB"/>
                </a:solidFill>
                <a:latin typeface="Montserrat"/>
              </a:rPr>
              <a:t>RESULT +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907792"/>
            <a:ext cx="30266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Montserrat"/>
              </a:rPr>
              <a:t>15s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383280"/>
            <a:ext cx="302666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F172A"/>
                </a:solidFill>
                <a:latin typeface="Open Sans"/>
              </a:rPr>
              <a:t>“Average lift across 40 stores: 31%. Want me to show you?”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897880"/>
            <a:ext cx="1106424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Amateurs keep pitching after the pitch. Pros ask a question — and go silent.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50292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20">
                <a:solidFill>
                  <a:srgbClr val="2563EB"/>
                </a:solidFill>
                <a:latin typeface="Montserrat"/>
              </a:rPr>
              <a:t>MODULE 7 · THE PRACTICE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ontserrat"/>
              </a:rPr>
              <a:t>The 30-day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Open Sans"/>
              </a:rPr>
              <a:t>10–20 minutes a day. You fall to the level of what you've drilled.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50008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20">
                <a:solidFill>
                  <a:srgbClr val="2563EB"/>
                </a:solidFill>
                <a:latin typeface="Montserrat"/>
              </a:rP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34086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ontserrat"/>
              </a:rP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368296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Open Sans"/>
              </a:rPr>
              <a:t>Pre-talk routine + 60s daily reps · Core Idea · Day 7: baseline video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9008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91256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20">
                <a:solidFill>
                  <a:srgbClr val="2563EB"/>
                </a:solidFill>
                <a:latin typeface="Montserrat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18211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ontserrat"/>
              </a:rPr>
              <a:t>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209544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Open Sans"/>
              </a:rPr>
              <a:t>2-min warmup + 90s single-dial reps · review audio-only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3133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3250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20">
                <a:solidFill>
                  <a:srgbClr val="2563EB"/>
                </a:solidFill>
                <a:latin typeface="Montserrat"/>
              </a:rPr>
              <a:t>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02336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ontserrat"/>
              </a:rPr>
              <a:t>Camera &amp; 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050792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Open Sans"/>
              </a:rPr>
              <a:t>90s to the lens daily · 4 banked stories drilled by Day 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672584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73752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20">
                <a:solidFill>
                  <a:srgbClr val="2563EB"/>
                </a:solidFill>
                <a:latin typeface="Montserrat"/>
              </a:rPr>
              <a:t>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6460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ontserrat"/>
              </a:rPr>
              <a:t>Selling &amp;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892040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Open Sans"/>
              </a:rPr>
              <a:t>PSR + Turn drills · mini-webinar · Days 28–29 GO LIVE · Day 30 compare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897880"/>
            <a:ext cx="11064240" cy="457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98932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ontserrat"/>
              </a:rPr>
              <a:t>3 rules: daily beats big · record everything · one focus per rep. Miss a day? Restart tomorrow — never Monday.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455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ontserrat"/>
              </a:rPr>
              <a:t>StageMaster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spc="300">
                <a:solidFill>
                  <a:srgbClr val="0EA5E9"/>
                </a:solidFill>
                <a:latin typeface="Montserrat"/>
              </a:rPr>
              <a:t>YOU'RE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The camera light is on.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Montserrat"/>
              </a:rPr>
              <a:t>Own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72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BFDBFE"/>
                </a:solidFill>
                <a:latin typeface="Open Sans"/>
              </a:rPr>
              <a:t>Next actions:  do Day 1 today (not Monday)  ·  print the 30-day tracker  ·  book one real rep with real stakes this month.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ontserrat"/>
              </a:rPr>
              <a:t>StageMaster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